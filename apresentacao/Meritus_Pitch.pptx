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2e361bd4e54e08" /><Relationship Type="http://schemas.openxmlformats.org/officeDocument/2006/relationships/extended-properties" Target="/docProps/app.xml" Id="R7ca07204a3b64277" /><Relationship Type="http://schemas.openxmlformats.org/officeDocument/2006/relationships/officeDocument" Target="/ppt/presentation.xml" Id="R9d57f67b58284b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109899d72749bb"/>
  </p:sldMasterIdLst>
  <p:notesMasterIdLst>
    <p:notesMasterId xmlns:r="http://schemas.openxmlformats.org/officeDocument/2006/relationships" r:id="R3acbfc7d1aa14113"/>
  </p:notesMasterIdLst>
  <p:sldIdLst>
    <p:sldId xmlns:r="http://schemas.openxmlformats.org/officeDocument/2006/relationships" id="256" r:id="Rd1f04a6e36bf4224"/>
    <p:sldId xmlns:r="http://schemas.openxmlformats.org/officeDocument/2006/relationships" id="257" r:id="R50c007252eb542ec"/>
    <p:sldId xmlns:r="http://schemas.openxmlformats.org/officeDocument/2006/relationships" id="258" r:id="Raace4d4dcd87437f"/>
    <p:sldId xmlns:r="http://schemas.openxmlformats.org/officeDocument/2006/relationships" id="259" r:id="R5126865219c948d4"/>
    <p:sldId xmlns:r="http://schemas.openxmlformats.org/officeDocument/2006/relationships" id="260" r:id="R346f9d147162419e"/>
    <p:sldId xmlns:r="http://schemas.openxmlformats.org/officeDocument/2006/relationships" id="261" r:id="Rf72a4c177af1421c"/>
    <p:sldId xmlns:r="http://schemas.openxmlformats.org/officeDocument/2006/relationships" id="262" r:id="Rb403e805a5254761"/>
    <p:sldId xmlns:r="http://schemas.openxmlformats.org/officeDocument/2006/relationships" id="263" r:id="R45e2f5912baa40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08f3ef722e446b" /><Relationship Type="http://schemas.openxmlformats.org/officeDocument/2006/relationships/slideMaster" Target="/ppt/slideMasters/slideMaster1.xml" Id="R67109899d72749bb" /><Relationship Type="http://schemas.openxmlformats.org/officeDocument/2006/relationships/notesMaster" Target="/ppt/notesMasters/notesMaster1.xml" Id="R3acbfc7d1aa14113" /><Relationship Type="http://schemas.openxmlformats.org/officeDocument/2006/relationships/presProps" Target="/ppt/presProps.xml" Id="R1dcaab9e5f85488f" /><Relationship Type="http://schemas.openxmlformats.org/officeDocument/2006/relationships/tableStyles" Target="/ppt/tableStyles.xml" Id="Rf61fc606ef5442fe" /><Relationship Type="http://schemas.openxmlformats.org/officeDocument/2006/relationships/slide" Target="/ppt/slides/slide1.xml" Id="Rd1f04a6e36bf4224" /><Relationship Type="http://schemas.openxmlformats.org/officeDocument/2006/relationships/slide" Target="/ppt/slides/slide2.xml" Id="R50c007252eb542ec" /><Relationship Type="http://schemas.openxmlformats.org/officeDocument/2006/relationships/slide" Target="/ppt/slides/slide3.xml" Id="Raace4d4dcd87437f" /><Relationship Type="http://schemas.openxmlformats.org/officeDocument/2006/relationships/slide" Target="/ppt/slides/slide4.xml" Id="R5126865219c948d4" /><Relationship Type="http://schemas.openxmlformats.org/officeDocument/2006/relationships/slide" Target="/ppt/slides/slide5.xml" Id="R346f9d147162419e" /><Relationship Type="http://schemas.openxmlformats.org/officeDocument/2006/relationships/slide" Target="/ppt/slides/slide6.xml" Id="Rf72a4c177af1421c" /><Relationship Type="http://schemas.openxmlformats.org/officeDocument/2006/relationships/slide" Target="/ppt/slides/slide7.xml" Id="Rb403e805a5254761" /><Relationship Type="http://schemas.openxmlformats.org/officeDocument/2006/relationships/slide" Target="/ppt/slides/slide8.xml" Id="R45e2f5912baa40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fa397d689240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0693d3124d45af" /><Relationship Type="http://schemas.openxmlformats.org/officeDocument/2006/relationships/notesMaster" Target="/ppt/notesMasters/notesMaster1.xml" Id="Ra80d0fa4bcfd4a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147a84596141cf" /><Relationship Type="http://schemas.openxmlformats.org/officeDocument/2006/relationships/notesMaster" Target="/ppt/notesMasters/notesMaster1.xml" Id="R210d1ad07c994e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8095f1a00f4a92" /><Relationship Type="http://schemas.openxmlformats.org/officeDocument/2006/relationships/notesMaster" Target="/ppt/notesMasters/notesMaster1.xml" Id="Rfe6bd3baa6d544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688302bf004039" /><Relationship Type="http://schemas.openxmlformats.org/officeDocument/2006/relationships/notesMaster" Target="/ppt/notesMasters/notesMaster1.xml" Id="R325309a4fa134a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7cfcb43ba24756" /><Relationship Type="http://schemas.openxmlformats.org/officeDocument/2006/relationships/notesMaster" Target="/ppt/notesMasters/notesMaster1.xml" Id="R2482be18637447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b71554cb9344df" /><Relationship Type="http://schemas.openxmlformats.org/officeDocument/2006/relationships/notesMaster" Target="/ppt/notesMasters/notesMaster1.xml" Id="R5d5ae222b75a45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7f6c5db1d942c7" /><Relationship Type="http://schemas.openxmlformats.org/officeDocument/2006/relationships/notesMaster" Target="/ppt/notesMasters/notesMaster1.xml" Id="R60c55cb8ecca44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035821064f4873" /><Relationship Type="http://schemas.openxmlformats.org/officeDocument/2006/relationships/notesMaster" Target="/ppt/notesMasters/notesMaster1.xml" Id="R859fd4db71b343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Projeto acadêmico Meritus. Pitch curto conforme tempo informado para esta apresentação. Fonte dos requisitos: LABDESENV_3 (1).pdf. A proposta de valor ainda não foi validada com usuários.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Regras implementadas em AppController.mjs, MeritService.mjs e Repository.mjs. Fonte dos requisitos: LABDESENV_3 (1).pdf. O crédito ocorre no primeiro acesso autenticado do semestre. Não há recomposição de semestres sem acesso.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Exemplo aritmético, não retrato dos saldos atuais. Na base pública, os dados persistem. A validação de cupom depende da empresa proprietária. Regras em MeritService.mjs e db/migration.sql.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Mapeamento: src/views, src/controllers/AppController.mjs, src/services e src/models/Repository.mjs. DAO é a opção de acesso adotada. Referências: docs/ARQUITETURA.md e https://developers.cloudflare.com/d1/worker-api/d1-database/.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Tutorial compacto da execução local. Fonte: server.mjs, tests/integration.test.mjs e https://nodejs.org/docs/latest-v24.x/api/sqlite.html. As ferramentas de build são necessárias apenas para preparar a hospedagem.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docs/sprints/01, 02 e 03. As versões foram reconstruídas como organização proposta da entrega. Não representam commits ou apresentações feitos em cada aula.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Resultado registrado em docs/VALIDACAO.md: 12 subtestes mais o agrupador, 13 aprovações. Testes em SQLite isolado não comprovam entrega externa de e-mail. Integração: src/services/EmailService.mjs. Fonte: https://resend.com/docs/api-reference/emails/send-email.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Endereços confirmados em docs/DEPLOY.md e README.md. Hospedagem Cloudflare Workers Free e D1 Free. O piloto é uma proposta futura, sem resultados medidos.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92d1ee61174c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698278632f42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e93cc11e894f5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356d5b86848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82f10292ec45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c02968eb64a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E60F0C-CD35-4933-9682-5BB4BD0CDE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B29405-29A7-47DC-B23C-C9782FA9AFF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2811360-CD10-445B-A4EF-A50CDA6FC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03F681-3290-455E-8E92-DF04C36118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A6F9CF-31A8-4227-B528-9B7EE3BE88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EEF9FD-3E98-433E-9EBC-5E12EC65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13D39B-BDC3-4999-80EE-184761AB68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154752-6B04-4A2F-9B81-97BE1D8F20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80C63A0-EC0A-4596-982F-49CE40FFC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3DAEF6-2C35-4085-A37C-7351FEF24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fc381585cf4cfa" /><Relationship Type="http://schemas.openxmlformats.org/officeDocument/2006/relationships/slideLayout" Target="/ppt/slideLayouts/slideLayout1.xml" Id="R4bfa8c9665ab4822" /><Relationship Type="http://schemas.openxmlformats.org/officeDocument/2006/relationships/slideLayout" Target="/ppt/slideLayouts/slideLayout2.xml" Id="Rbbfa1b6a0aeb4295" /><Relationship Type="http://schemas.openxmlformats.org/officeDocument/2006/relationships/slideLayout" Target="/ppt/slideLayouts/slideLayout3.xml" Id="R4ab85c47808f48d7" /><Relationship Type="http://schemas.openxmlformats.org/officeDocument/2006/relationships/slideLayout" Target="/ppt/slideLayouts/slideLayout4.xml" Id="R4f8073777a61436a" /><Relationship Type="http://schemas.openxmlformats.org/officeDocument/2006/relationships/slideLayout" Target="/ppt/slideLayouts/slideLayout5.xml" Id="R53da9ad2cb004f0c" /><Relationship Type="http://schemas.openxmlformats.org/officeDocument/2006/relationships/slideLayout" Target="/ppt/slideLayouts/slideLayout6.xml" Id="R78074cbe475846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fa8c9665ab4822"/>
    <p:sldLayoutId xmlns:r="http://schemas.openxmlformats.org/officeDocument/2006/relationships" id="2147483650" r:id="Rbbfa1b6a0aeb4295"/>
    <p:sldLayoutId xmlns:r="http://schemas.openxmlformats.org/officeDocument/2006/relationships" id="2147483651" r:id="R4ab85c47808f48d7"/>
    <p:sldLayoutId xmlns:r="http://schemas.openxmlformats.org/officeDocument/2006/relationships" id="2147483652" r:id="R4f8073777a61436a"/>
    <p:sldLayoutId xmlns:r="http://schemas.openxmlformats.org/officeDocument/2006/relationships" id="2147483653" r:id="R53da9ad2cb004f0c"/>
    <p:sldLayoutId xmlns:r="http://schemas.openxmlformats.org/officeDocument/2006/relationships" id="2147483654" r:id="R78074cbe475846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25fe243f544e29" /><Relationship Type="http://schemas.openxmlformats.org/officeDocument/2006/relationships/notesSlide" Target="/ppt/notesSlides/notesSlide1.xml" Id="R16dd30dcd4984a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f55f0c2c564417" /><Relationship Type="http://schemas.openxmlformats.org/officeDocument/2006/relationships/notesSlide" Target="/ppt/notesSlides/notesSlide2.xml" Id="Rfd5fbd00bf7b4c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bf560b5f9046a3" /><Relationship Type="http://schemas.openxmlformats.org/officeDocument/2006/relationships/notesSlide" Target="/ppt/notesSlides/notesSlide3.xml" Id="Rdb81e697e73640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161033429d4cac" /><Relationship Type="http://schemas.openxmlformats.org/officeDocument/2006/relationships/notesSlide" Target="/ppt/notesSlides/notesSlide4.xml" Id="Ra74d0a2bcef241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4b6d46980c4d5b" /><Relationship Type="http://schemas.openxmlformats.org/officeDocument/2006/relationships/notesSlide" Target="/ppt/notesSlides/notesSlide5.xml" Id="Rd131ec3ee88549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9901f197b24e45" /><Relationship Type="http://schemas.openxmlformats.org/officeDocument/2006/relationships/notesSlide" Target="/ppt/notesSlides/notesSlide6.xml" Id="R8060df78b0a448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a659dc9584a15" /><Relationship Type="http://schemas.openxmlformats.org/officeDocument/2006/relationships/notesSlide" Target="/ppt/notesSlides/notesSlide7.xml" Id="Raf1b044301924c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dbe80cec164c2c" /><Relationship Type="http://schemas.openxmlformats.org/officeDocument/2006/relationships/notesSlide" Target="/ppt/notesSlides/notesSlide8.xml" Id="R556b533477274f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B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A3585-5763-4B80-A214-3D6982F0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9537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defPPr>
            <a:lvl1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1pPr>
            <a:lvl2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2pPr>
            <a:lvl3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3pPr>
            <a:lvl4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4pPr>
            <a:lvl5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5pPr>
            <a:lvl6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6pPr>
            <a:lvl7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7pPr>
            <a:lvl8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8pPr>
            <a:lvl9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0" b="1">
                <a:solidFill>
                  <a:srgbClr val="E4C65D"/>
                </a:solidFill>
                <a:latin typeface="Arial"/>
                <a:ea typeface="Arial"/>
                <a:cs typeface="Arial"/>
              </a:defRPr>
            </a:pPr>
            <a:r>
              <a:rPr sz="7500" b="1">
                <a:solidFill>
                  <a:srgbClr val="E4C65D"/>
                </a:solidFill>
                <a:latin typeface="Arial"/>
                <a:ea typeface="Arial"/>
                <a:cs typeface="Arial"/>
              </a:rPr>
              <a:t>meritus.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3494A2-9259-4892-8894-E3C4D68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10477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 Meritus transforma o reconhecimento dos professores em moedas que os alunos podem trocar por vantagens.</a:t>
            </a:r>
          </a:p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proposta é aproximar a participação em sala dos parceiros do campus, com um histórico de cada movimentação.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5EB5D-CB25-4DCF-B68A-1EFC4D63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Sistema de Moeda Estudantil</a:t>
            </a:r>
          </a:p>
        </p:txBody>
      </p:sp>
    </p:spTree>
    <p:extLst>
      <p:ext uri="{BB962C8B-B14F-4D97-AF65-F5344CB8AC3E}">
        <p14:creationId xmlns:p14="http://schemas.microsoft.com/office/powerpoint/2010/main" val="13767536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528906-81CE-412B-BB31-726C47C9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Como cada perfil usa o Meritus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D3F9A-EFE2-4F02-BDB3-EE35AA1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O sistema possui acessos diferentes para professor, aluno e empresa.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637D4-4CAA-4D59-9A02-965E7E03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professor é pré-cadastrado e recebe 1.000 moedas no primeiro acesso de cada semestre. Ele escolhe um aluno da mesma instituição e informa a quantidade e o motivo do reconhecimento.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A8D32A-4D4B-4B0F-9E4C-12005DD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aluno pode se cadastrar, editar seus dados e acompanhar o saldo e o extrato. Quando acumula moedas, escolhe uma vantagem e recebe um cupom para apresentar ao parceiro.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D9B03-56DE-4442-8765-1FAF5631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empresa pode se cadastrar, publicar vantagens com foto, descrição e custo, e conferir os cupons. Cada cupom permite uma única utilização, confirmada pela própria empresa.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C64C6-C486-4299-89BA-0500B13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7DEF6-125B-4266-A659-A0EB26F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97BDF3-E711-4C9E-9E89-E24CC8C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26835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7B553-4E9B-486D-A2A4-A33307B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Exemplo de reconhecimento e resgate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BC402-3B94-404A-AE3A-BB36ADC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Neste exemplo ilustrativo, o aluno começa com saldo zero.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F96CC-484C-4DAA-9286-831A659D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professor envia 200 moedas ao aluno e registra o motivo: participação e colaboração na aula. O sistema desconta as moedas do professor e acrescenta o mesmo valor ao saldo do aluno.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B38AA-20FD-4A73-BFEC-99E4F065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aluno escolhe um café que custa 50 moedas. Ao confirmar o resgate, o sistema gera um código de cupom e desconta o custo. Nesse exemplo, o aluno termina com 150 moedas.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70097-4C0F-4871-9B80-A578DDA6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empresa confere o código e confirma a utilização. Uma segunda tentativa com o mesmo cupom é recusada. O extrato preserva o histórico. Na demonstração pública, os saldos variam conforme o uso.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D48CCB-19AE-4CB7-85F3-65BE1415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885CB-70D9-4CEB-A2E1-363F8E10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32676-B0FD-4D19-9145-6146877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418741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CF32D-2996-4D2B-B4E6-6F2BEBD0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Arquitetura e persistência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2310E-CAB3-48BA-A221-A5EE8C08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A aplicação usa MVC e um DAO para organizar o código.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94CD6-582F-46D0-A67F-E4EE6E24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View é a parte que o usuário vê: formulários, saldo, extrato e catálogo. Ela usa HTML, CSS e JavaScript para apresentar os dados e enviar as ações ao servidor.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E2B8B-EAB6-41C9-BC7E-B4345F44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Controller recebe as requisições, verifica o login e as permissões e chama as regras do Model. No Model ficam as regras de moedas e cupons, além dos registros persistidos.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4D355-B39F-4905-AA7E-41361905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DAO concentra as consultas ao banco e usa parâmetros separados do SQL. O sistema usa SQLite no computador e D1 na hospedagem. O banco impede saldo negativo e mantém os registros após reiniciar.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F5E95-EF30-4496-A564-A006559B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11432-6BEB-4035-99F6-DF95163D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B6723-1569-43E1-B604-1AC442EC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740338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1BD84-C758-46FB-A626-C2661876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Execução e tecnologias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FB7F4-CDD7-4024-869E-E68C1A64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O projeto usa JavaScript no navegador e no servidor.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011A1-C1EC-421C-A68D-4B265AE4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Para executar no computador, usamos Node.js 24. Na pasta do projeto, o comando node server.mjs inicia o servidor e cria o banco SQLite automaticamente, caso ele ainda não exista.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35C86-B834-425C-B155-DAEF6B00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Depois, abrimos http://localhost:3000 no navegador. A interface envia os pedidos para a API do servidor, que aplica as regras e consulta o banco. Fechar o navegador não apaga os dados.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932E5-BCE6-4F9D-BBEE-6DEE7ED5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Para conferir as regras, usamos o comando node --test tests/*.test.mjs. Os testes usam outro banco, separado das contas de demonstração. A versão local funciona sem instalar dependências externas.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4BC1EB-2227-4735-B540-C4BB25BE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7E0C39-2154-4695-ACFA-4D5E442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37F1DC-323B-42A7-AF1C-CBB012A8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882650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3FFE5B-F601-48D2-8752-28FCFA61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Organização nas três sprints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2F951-9302-4F50-BAD9-5DB4036A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Os modelos documentam uma evolução proposta do projeto em três versões.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4D23E-7810-4A52-A20C-1262B983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primeira versão organiza o problema com casos de uso, histórias de usuário e diagramas de classes e componentes. Essa etapa define quem usa o sistema e quais ações cada perfil pode realizar.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AB09CC-9E0C-4E4C-AA3D-846000507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segunda versão apresenta o modelo de banco, a escolha do DAO e os cadastros iniciais de aluno e empresa. O foco passa a ser a ligação entre a interface, o servidor e a persistência.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C08F2-36E7-4C37-BA73-2785CFE6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 terceira versão reúne o fluxo de moedas e cupons, os cadastros completos, os testes e a publicação. O repositório guarda os modelos e a documentação. Os arquivos permitem comparar as mudanças entre as versões.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347F5-BFD5-4757-A3F4-F3679ED2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95D98-0543-489E-B1D0-79AF4AE0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0551EA-9F57-4DB2-B780-497452A5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587058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E2976-865E-4678-9709-A7826CE1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Testes e situação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83D576-9A5A-4410-83D5-16876BE1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A suíte automatizada registrou 13 testes aprovados, sem falhas.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2CE52-7029-48B5-9A8C-533BBCBB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Os testes verificam login, permissões, cadastros e movimentações. Também conferem situações que o sistema precisa recusar, como envio sem motivo, valor inválido ou operação acima do saldo.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68BA3-99F4-4A07-94F4-7938A15B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resgate mantém o cupom, o débito e as mensagens na mesma transação. Se a operação falha, o banco desfaz o conjunto. Os testes também verificam a recusa de um cupom já utilizado.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85475-6643-4AD2-8177-B05ED225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As notificações ficam registradas na caixa de saída do sistema. O envio real de e-mails ainda depende de configurar a chave do Resend, um remetente verificado e destinatários reais. Essa parte permanece em modo demonstração.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0C94A-6013-41F6-9C44-A74C38CB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CD7CFE-166F-47CA-8DDB-4E46283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65D203-8598-40A6-9569-E9598A6C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64446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29D86-B918-4E30-A822-E72A40FD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"/>
            <a:ext cx="10744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63B34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B34"/>
                </a:solidFill>
                <a:latin typeface="Arial"/>
                <a:ea typeface="Arial"/>
                <a:cs typeface="Arial"/>
              </a:rPr>
              <a:t>Entrega e próximos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35394-322D-4AE1-B194-EEF48251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60736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0736D"/>
                </a:solidFill>
                <a:latin typeface="Arial"/>
                <a:ea typeface="Arial"/>
                <a:cs typeface="Arial"/>
              </a:rPr>
              <a:t>O site está publicado e o código está disponível no GitHub.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90411-9148-440D-B59D-102CDF3D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Meritus entrega um fluxo de reconhecimento com moedas, resgate de vantagens e conferência de cupons. A hospedagem gratuita na Cloudflare funciona em outro computador e mantém os dados no banco D1.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CACEE-6F51-409E-A642-F54224FE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O próximo passo é configurar o envio externo de e-mails e testar a solução com uma turma e parceiros. Esse piloto permitirá avaliar a adesão e os resgates antes de ampliar o uso.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4078A-A1AF-4009-83DD-AA31E080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Site: meritus-estudantil.vianadv.workers.dev</a:t>
            </a:r>
          </a:p>
          <a:p xmlns:a="http://schemas.openxmlformats.org/drawingml/2006/main">
            <a:pPr>
              <a:defRPr sz="2100" b="0">
                <a:solidFill>
                  <a:srgbClr val="24352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352F"/>
                </a:solidFill>
                <a:latin typeface="Arial"/>
                <a:ea typeface="Arial"/>
                <a:cs typeface="Arial"/>
              </a:rPr>
              <a:t>Código: github.com/vianadv/sistemaMoedaEstudantil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A0526-EDDA-409E-8D17-662079B0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43625"/>
            <a:ext cx="10715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A7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C1EF6-7CFB-4C03-ABB1-A3693773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436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MERITUS · LAB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00A7-8868-4A15-BF04-F642F94A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0555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2716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1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77665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2026-10-21T13:43:57.5360000Z</dcterms:created>
  <dcterms:modified xsi:type="dcterms:W3CDTF">2026-10-21T13:43:57.5360000Z</dcterms:modified>
</coreProperties>
</file>